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bbc7c857954520" /><Relationship Type="http://schemas.openxmlformats.org/officeDocument/2006/relationships/extended-properties" Target="/docProps/app.xml" Id="R8bffef8740314937" /><Relationship Type="http://schemas.openxmlformats.org/officeDocument/2006/relationships/officeDocument" Target="/ppt/presentation.xml" Id="Rc6ceb76dd10a47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4d48956a0a4f60"/>
  </p:sldMasterIdLst>
  <p:notesMasterIdLst>
    <p:notesMasterId xmlns:r="http://schemas.openxmlformats.org/officeDocument/2006/relationships" r:id="R371b898d25a449ad"/>
  </p:notesMasterIdLst>
  <p:sldIdLst>
    <p:sldId xmlns:r="http://schemas.openxmlformats.org/officeDocument/2006/relationships" id="256" r:id="Re51d272614be46e4"/>
  </p:sldIdLst>
  <p:sldSz cx="7562850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d31a4fe2654822" /><Relationship Type="http://schemas.openxmlformats.org/officeDocument/2006/relationships/slideMaster" Target="/ppt/slideMasters/slideMaster1.xml" Id="Rb54d48956a0a4f60" /><Relationship Type="http://schemas.openxmlformats.org/officeDocument/2006/relationships/notesMaster" Target="/ppt/notesMasters/notesMaster1.xml" Id="R371b898d25a449ad" /><Relationship Type="http://schemas.openxmlformats.org/officeDocument/2006/relationships/presProps" Target="/ppt/presProps.xml" Id="Rcc782ad822b24d1b" /><Relationship Type="http://schemas.openxmlformats.org/officeDocument/2006/relationships/tableStyles" Target="/ppt/tableStyles.xml" Id="R6a567867fd3a4801" /><Relationship Type="http://schemas.openxmlformats.org/officeDocument/2006/relationships/slide" Target="/ppt/slides/slide1.xml" Id="Re51d272614be46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be4c88d33e49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44714a07fd4b2f" /><Relationship Type="http://schemas.openxmlformats.org/officeDocument/2006/relationships/notesMaster" Target="/ppt/notesMasters/notesMaster1.xml" Id="R4711bd01578840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7e328cf8042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656ac035134c0c" /><Relationship Type="http://schemas.openxmlformats.org/officeDocument/2006/relationships/slideLayout" Target="/ppt/slideLayouts/slideLayout1.xml" Id="R1f3d3346fa5747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3d3346fa5747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3e953e67a4e78" /><Relationship Type="http://schemas.openxmlformats.org/officeDocument/2006/relationships/notesSlide" Target="/ppt/notesSlides/notesSlide1.xml" Id="R46d3415b30e04c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ro">
            <a:extLst xmlns:a="http://schemas.openxmlformats.org/drawingml/2006/main">
              <a:ext uri="{FF2B5EF4-FFF2-40B4-BE49-F238E27FC236}">
                <a16:creationId xmlns:a16="http://schemas.microsoft.com/office/drawing/2014/main" id="{ACF8DBF6-E9FD-4954-A967-8EDEB4D0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103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CD9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2" name="hero-spectrum-green">
            <a:extLst xmlns:a="http://schemas.openxmlformats.org/drawingml/2006/main">
              <a:ext uri="{FF2B5EF4-FFF2-40B4-BE49-F238E27FC236}">
                <a16:creationId xmlns:a16="http://schemas.microsoft.com/office/drawing/2014/main" id="{3F0F45DC-B776-4FD2-A2B1-A804B39C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218141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ro-spectrum-yellow">
            <a:extLst xmlns:a="http://schemas.openxmlformats.org/drawingml/2006/main">
              <a:ext uri="{FF2B5EF4-FFF2-40B4-BE49-F238E27FC236}">
                <a16:creationId xmlns:a16="http://schemas.microsoft.com/office/drawing/2014/main" id="{7156D7A4-BBEB-4541-833F-5EE035C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666" y="438150"/>
            <a:ext cx="178479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ro-spectrum-coral">
            <a:extLst xmlns:a="http://schemas.openxmlformats.org/drawingml/2006/main">
              <a:ext uri="{FF2B5EF4-FFF2-40B4-BE49-F238E27FC236}">
                <a16:creationId xmlns:a16="http://schemas.microsoft.com/office/drawing/2014/main" id="{659413D7-C934-4FCB-A229-F208BDE9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460" y="438150"/>
            <a:ext cx="26441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ro-kicker">
            <a:extLst xmlns:a="http://schemas.openxmlformats.org/drawingml/2006/main">
              <a:ext uri="{FF2B5EF4-FFF2-40B4-BE49-F238E27FC236}">
                <a16:creationId xmlns:a16="http://schemas.microsoft.com/office/drawing/2014/main" id="{543FA859-885E-4898-810F-76619483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004C"/>
                </a:solidFill>
              </a:defRPr>
            </a:pPr>
            <a:r>
              <a:rPr sz="1575" b="1">
                <a:solidFill>
                  <a:srgbClr val="1F004C"/>
                </a:solidFill>
              </a:rPr>
              <a:t>TalentFlow Interview-Steckbrief</a:t>
            </a:r>
          </a:p>
        </p:txBody>
      </p:sp>
      <p:sp>
        <p:nvSpPr>
          <p:cNvPr id="6" name="hero-title">
            <a:extLst xmlns:a="http://schemas.openxmlformats.org/drawingml/2006/main">
              <a:ext uri="{FF2B5EF4-FFF2-40B4-BE49-F238E27FC236}">
                <a16:creationId xmlns:a16="http://schemas.microsoft.com/office/drawing/2014/main" id="{7593BCA1-737C-4F63-B73C-17C66ED4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004C"/>
                </a:solidFill>
              </a:defRPr>
            </a:pPr>
            <a:r>
              <a:rPr sz="1200" b="1">
                <a:solidFill>
                  <a:srgbClr val="1F004C"/>
                </a:solidFill>
              </a:rPr>
              <a:t>Vorbereitung fuer ein fokussiertes, evidenzbasiertes Interview</a:t>
            </a:r>
          </a:p>
        </p:txBody>
      </p:sp>
      <p:sp>
        <p:nvSpPr>
          <p:cNvPr id="7" name="hero-sub">
            <a:extLst xmlns:a="http://schemas.openxmlformats.org/drawingml/2006/main">
              <a:ext uri="{FF2B5EF4-FFF2-40B4-BE49-F238E27FC236}">
                <a16:creationId xmlns:a16="http://schemas.microsoft.com/office/drawing/2014/main" id="{5B996501-99FC-492E-85C2-635A8CA0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>
                <a:solidFill>
                  <a:srgbClr val="5A4A7A"/>
                </a:solidFill>
              </a:defRPr>
            </a:pPr>
            <a:r>
              <a:rPr sz="863">
                <a:solidFill>
                  <a:srgbClr val="5A4A7A"/>
                </a:solidFill>
              </a:rPr>
              <a:t>Kurzfassung fuer Interviewer:innen - Kandidat:in, Fokus, Fragen, Risiken und Ablauf auf einer Seite</a:t>
            </a:r>
          </a:p>
        </p:txBody>
      </p:sp>
      <p:sp>
        <p:nvSpPr>
          <p:cNvPr id="8" name="date-pill">
            <a:extLst xmlns:a="http://schemas.openxmlformats.org/drawingml/2006/main">
              <a:ext uri="{FF2B5EF4-FFF2-40B4-BE49-F238E27FC236}">
                <a16:creationId xmlns:a16="http://schemas.microsoft.com/office/drawing/2014/main" id="{3E3FC72C-7D31-4225-AC8A-A811BD38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76275"/>
            <a:ext cx="1143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te-text">
            <a:extLst xmlns:a="http://schemas.openxmlformats.org/drawingml/2006/main">
              <a:ext uri="{FF2B5EF4-FFF2-40B4-BE49-F238E27FC236}">
                <a16:creationId xmlns:a16="http://schemas.microsoft.com/office/drawing/2014/main" id="{03A6C2E5-7C92-4A3F-A291-3FCEA5A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437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54BFF"/>
                </a:solidFill>
              </a:defRPr>
            </a:pPr>
            <a:r>
              <a:rPr sz="750" b="1">
                <a:solidFill>
                  <a:srgbClr val="854BFF"/>
                </a:solidFill>
              </a:rPr>
              <a:t>[Datum]</a:t>
            </a:r>
          </a:p>
        </p:txBody>
      </p:sp>
      <p:sp>
        <p:nvSpPr>
          <p:cNvPr id="10" name="status-pill">
            <a:extLst xmlns:a="http://schemas.openxmlformats.org/drawingml/2006/main">
              <a:ext uri="{FF2B5EF4-FFF2-40B4-BE49-F238E27FC236}">
                <a16:creationId xmlns:a16="http://schemas.microsoft.com/office/drawing/2014/main" id="{8947B866-2B71-4DA2-8D0B-70FF1ADB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990600"/>
            <a:ext cx="1143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us-text">
            <a:extLst xmlns:a="http://schemas.openxmlformats.org/drawingml/2006/main">
              <a:ext uri="{FF2B5EF4-FFF2-40B4-BE49-F238E27FC236}">
                <a16:creationId xmlns:a16="http://schemas.microsoft.com/office/drawing/2014/main" id="{E26BC3C7-304C-420F-A9E0-F8BEF0D1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02870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7A1F"/>
                </a:solidFill>
              </a:defRPr>
            </a:pPr>
            <a:r>
              <a:rPr sz="750" b="1">
                <a:solidFill>
                  <a:srgbClr val="1F7A1F"/>
                </a:solidFill>
              </a:rPr>
              <a:t>AGG-geprueft</a:t>
            </a:r>
          </a:p>
        </p:txBody>
      </p:sp>
      <p:sp>
        <p:nvSpPr>
          <p:cNvPr id="12" name="candidate-card">
            <a:extLst xmlns:a="http://schemas.openxmlformats.org/drawingml/2006/main">
              <a:ext uri="{FF2B5EF4-FFF2-40B4-BE49-F238E27FC236}">
                <a16:creationId xmlns:a16="http://schemas.microsoft.com/office/drawing/2014/main" id="{97B12349-BF93-4B1C-AB07-5DB60A7A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66103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13" name="candidate-name">
            <a:extLst xmlns:a="http://schemas.openxmlformats.org/drawingml/2006/main">
              <a:ext uri="{FF2B5EF4-FFF2-40B4-BE49-F238E27FC236}">
                <a16:creationId xmlns:a16="http://schemas.microsoft.com/office/drawing/2014/main" id="{19D729E5-9179-4876-B0B9-ABC0398A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004C"/>
                </a:solidFill>
              </a:defRPr>
            </a:pPr>
            <a:r>
              <a:rPr sz="1500" b="1">
                <a:solidFill>
                  <a:srgbClr val="1F004C"/>
                </a:solidFill>
              </a:rPr>
              <a:t>[Vorname Nachname] - [X] Jahre Erfahrung</a:t>
            </a:r>
          </a:p>
        </p:txBody>
      </p:sp>
      <p:sp>
        <p:nvSpPr>
          <p:cNvPr id="14" name="candidate-role-pill">
            <a:extLst xmlns:a="http://schemas.openxmlformats.org/drawingml/2006/main">
              <a:ext uri="{FF2B5EF4-FFF2-40B4-BE49-F238E27FC236}">
                <a16:creationId xmlns:a16="http://schemas.microsoft.com/office/drawing/2014/main" id="{FF65D986-FB31-4B57-A5C3-0263A4AC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16954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ndidate-role-text">
            <a:extLst xmlns:a="http://schemas.openxmlformats.org/drawingml/2006/main">
              <a:ext uri="{FF2B5EF4-FFF2-40B4-BE49-F238E27FC236}">
                <a16:creationId xmlns:a16="http://schemas.microsoft.com/office/drawing/2014/main" id="{3CC97892-418D-4155-AEEB-04A2F451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907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54BFF"/>
                </a:solidFill>
              </a:defRPr>
            </a:pPr>
            <a:r>
              <a:rPr sz="750" b="1">
                <a:solidFill>
                  <a:srgbClr val="854BFF"/>
                </a:solidFill>
              </a:rPr>
              <a:t>[Job Title]</a:t>
            </a:r>
          </a:p>
        </p:txBody>
      </p:sp>
      <p:sp>
        <p:nvSpPr>
          <p:cNvPr id="16" name="candidate-current-label">
            <a:extLst xmlns:a="http://schemas.openxmlformats.org/drawingml/2006/main">
              <a:ext uri="{FF2B5EF4-FFF2-40B4-BE49-F238E27FC236}">
                <a16:creationId xmlns:a16="http://schemas.microsoft.com/office/drawing/2014/main" id="{BDB96C00-9D3E-4697-9395-B62E9FE6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095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4A7A"/>
                </a:solidFill>
              </a:defRPr>
            </a:pPr>
            <a:r>
              <a:rPr sz="675" b="1">
                <a:solidFill>
                  <a:srgbClr val="5A4A7A"/>
                </a:solidFill>
              </a:rPr>
              <a:t>AKTUELLE ROLLE</a:t>
            </a:r>
          </a:p>
        </p:txBody>
      </p:sp>
      <p:sp>
        <p:nvSpPr>
          <p:cNvPr id="17" name="candidate-current-value">
            <a:extLst xmlns:a="http://schemas.openxmlformats.org/drawingml/2006/main">
              <a:ext uri="{FF2B5EF4-FFF2-40B4-BE49-F238E27FC236}">
                <a16:creationId xmlns:a16="http://schemas.microsoft.com/office/drawing/2014/main" id="{C03485D0-548F-420E-A69E-E2A874E2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004C"/>
                </a:solidFill>
              </a:defRPr>
            </a:pPr>
            <a:r>
              <a:rPr sz="900" b="1">
                <a:solidFill>
                  <a:srgbClr val="1F004C"/>
                </a:solidFill>
              </a:rPr>
              <a:t>[aktuelle Position / Arbeitgeber]</a:t>
            </a:r>
          </a:p>
        </p:txBody>
      </p:sp>
      <p:sp>
        <p:nvSpPr>
          <p:cNvPr id="18" name="candidate-team-label">
            <a:extLst xmlns:a="http://schemas.openxmlformats.org/drawingml/2006/main">
              <a:ext uri="{FF2B5EF4-FFF2-40B4-BE49-F238E27FC236}">
                <a16:creationId xmlns:a16="http://schemas.microsoft.com/office/drawing/2014/main" id="{6D6FDD20-50E9-4054-8B68-5067E2B2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1619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4A7A"/>
                </a:solidFill>
              </a:defRPr>
            </a:pPr>
            <a:r>
              <a:rPr sz="675" b="1">
                <a:solidFill>
                  <a:srgbClr val="5A4A7A"/>
                </a:solidFill>
              </a:rPr>
              <a:t>ZIELTEAM</a:t>
            </a:r>
          </a:p>
        </p:txBody>
      </p:sp>
      <p:sp>
        <p:nvSpPr>
          <p:cNvPr id="19" name="candidate-team-value">
            <a:extLst xmlns:a="http://schemas.openxmlformats.org/drawingml/2006/main">
              <a:ext uri="{FF2B5EF4-FFF2-40B4-BE49-F238E27FC236}">
                <a16:creationId xmlns:a16="http://schemas.microsoft.com/office/drawing/2014/main" id="{16B9F346-BAC1-444D-8BAE-79847E94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004C"/>
                </a:solidFill>
              </a:defRPr>
            </a:pPr>
            <a:r>
              <a:rPr sz="900" b="1">
                <a:solidFill>
                  <a:srgbClr val="1F004C"/>
                </a:solidFill>
              </a:rPr>
              <a:t>[Team / Bereich]</a:t>
            </a:r>
          </a:p>
        </p:txBody>
      </p:sp>
      <p:sp>
        <p:nvSpPr>
          <p:cNvPr id="20" name="candidate-location-label">
            <a:extLst xmlns:a="http://schemas.openxmlformats.org/drawingml/2006/main">
              <a:ext uri="{FF2B5EF4-FFF2-40B4-BE49-F238E27FC236}">
                <a16:creationId xmlns:a16="http://schemas.microsoft.com/office/drawing/2014/main" id="{6BFC842C-EA6E-413F-A24F-C5241CC5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619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4A7A"/>
                </a:solidFill>
              </a:defRPr>
            </a:pPr>
            <a:r>
              <a:rPr sz="675" b="1">
                <a:solidFill>
                  <a:srgbClr val="5A4A7A"/>
                </a:solidFill>
              </a:rPr>
              <a:t>SETUP</a:t>
            </a:r>
          </a:p>
        </p:txBody>
      </p:sp>
      <p:sp>
        <p:nvSpPr>
          <p:cNvPr id="21" name="candidate-location-value">
            <a:extLst xmlns:a="http://schemas.openxmlformats.org/drawingml/2006/main">
              <a:ext uri="{FF2B5EF4-FFF2-40B4-BE49-F238E27FC236}">
                <a16:creationId xmlns:a16="http://schemas.microsoft.com/office/drawing/2014/main" id="{C810768F-377C-48DA-842D-2C3844CE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95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004C"/>
                </a:solidFill>
              </a:defRPr>
            </a:pPr>
            <a:r>
              <a:rPr sz="900" b="1">
                <a:solidFill>
                  <a:srgbClr val="1F004C"/>
                </a:solidFill>
              </a:rPr>
              <a:t>[Standort / Remote]</a:t>
            </a:r>
          </a:p>
        </p:txBody>
      </p:sp>
      <p:sp>
        <p:nvSpPr>
          <p:cNvPr id="22" name="focus-strip">
            <a:extLst xmlns:a="http://schemas.openxmlformats.org/drawingml/2006/main">
              <a:ext uri="{FF2B5EF4-FFF2-40B4-BE49-F238E27FC236}">
                <a16:creationId xmlns:a16="http://schemas.microsoft.com/office/drawing/2014/main" id="{89045A34-D074-4AB1-A570-E1F8105A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1531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23" name="focus-strip-copy">
            <a:extLst xmlns:a="http://schemas.openxmlformats.org/drawingml/2006/main">
              <a:ext uri="{FF2B5EF4-FFF2-40B4-BE49-F238E27FC236}">
                <a16:creationId xmlns:a16="http://schemas.microsoft.com/office/drawing/2014/main" id="{E72DFC6C-8A8B-4DCF-92E6-36236E2F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581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F004C"/>
                </a:solidFill>
              </a:defRPr>
            </a:pPr>
            <a:r>
              <a:rPr sz="810" b="1">
                <a:solidFill>
                  <a:srgbClr val="1F004C"/>
                </a:solidFill>
              </a:rPr>
              <a:t>Gespraechsfokus: [rollenbezogene Kurzempfehlung, wichtigste Hypothese und Signal, das sichtbar werden soll]</a:t>
            </a:r>
          </a:p>
        </p:txBody>
      </p:sp>
      <p:sp>
        <p:nvSpPr>
          <p:cNvPr id="24" name="candidate-skills">
            <a:extLst xmlns:a="http://schemas.openxmlformats.org/drawingml/2006/main">
              <a:ext uri="{FF2B5EF4-FFF2-40B4-BE49-F238E27FC236}">
                <a16:creationId xmlns:a16="http://schemas.microsoft.com/office/drawing/2014/main" id="{5746FC6B-0E6E-4147-B470-3D5A732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5810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5A4A7A"/>
                </a:solidFill>
              </a:defRPr>
            </a:pPr>
            <a:r>
              <a:rPr sz="713">
                <a:solidFill>
                  <a:srgbClr val="5A4A7A"/>
                </a:solidFill>
              </a:rPr>
              <a:t>CV-Signale: [Skill 1], [Skill 2], [Skill 3]  |  Stage-1-Hinweis: [kurzer Recruiter-Kommentar]</a:t>
            </a:r>
          </a:p>
        </p:txBody>
      </p:sp>
      <p:sp>
        <p:nvSpPr>
          <p:cNvPr id="25" name="summary-line-green">
            <a:extLst xmlns:a="http://schemas.openxmlformats.org/drawingml/2006/main">
              <a:ext uri="{FF2B5EF4-FFF2-40B4-BE49-F238E27FC236}">
                <a16:creationId xmlns:a16="http://schemas.microsoft.com/office/drawing/2014/main" id="{706C5DB8-4985-430C-92E8-3A9A2C41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00450"/>
            <a:ext cx="218141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ummary-line-yellow">
            <a:extLst xmlns:a="http://schemas.openxmlformats.org/drawingml/2006/main">
              <a:ext uri="{FF2B5EF4-FFF2-40B4-BE49-F238E27FC236}">
                <a16:creationId xmlns:a16="http://schemas.microsoft.com/office/drawing/2014/main" id="{A9D280E1-C180-4CD4-A959-BCB7C611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666" y="3600450"/>
            <a:ext cx="178479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mmary-line-coral">
            <a:extLst xmlns:a="http://schemas.openxmlformats.org/drawingml/2006/main">
              <a:ext uri="{FF2B5EF4-FFF2-40B4-BE49-F238E27FC236}">
                <a16:creationId xmlns:a16="http://schemas.microsoft.com/office/drawing/2014/main" id="{35CB9411-206A-4CDA-888E-5149470C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460" y="3600450"/>
            <a:ext cx="26441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0A4D6961-72A1-4733-A3B7-C3D416F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004C"/>
                </a:solidFill>
              </a:defRPr>
            </a:pPr>
            <a:r>
              <a:rPr sz="1500" b="1">
                <a:solidFill>
                  <a:srgbClr val="1F004C"/>
                </a:solidFill>
              </a:rPr>
              <a:t>Vor dem Gespraech klaeren</a:t>
            </a:r>
          </a:p>
        </p:txBody>
      </p:sp>
      <p:sp>
        <p:nvSpPr>
          <p:cNvPr id="29" name="summary-main">
            <a:extLst xmlns:a="http://schemas.openxmlformats.org/drawingml/2006/main">
              <a:ext uri="{FF2B5EF4-FFF2-40B4-BE49-F238E27FC236}">
                <a16:creationId xmlns:a16="http://schemas.microsoft.com/office/drawing/2014/main" id="{33A858F6-1104-4530-ACDA-91E89E90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76700"/>
            <a:ext cx="4191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8F3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30" name="summary-main-label">
            <a:extLst xmlns:a="http://schemas.openxmlformats.org/drawingml/2006/main">
              <a:ext uri="{FF2B5EF4-FFF2-40B4-BE49-F238E27FC236}">
                <a16:creationId xmlns:a16="http://schemas.microsoft.com/office/drawing/2014/main" id="{F18110EB-4E90-40CF-9B4B-1DB65287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8F76"/>
                </a:solidFill>
              </a:defRPr>
            </a:pPr>
            <a:r>
              <a:rPr sz="675" b="1">
                <a:solidFill>
                  <a:srgbClr val="008F76"/>
                </a:solidFill>
              </a:rPr>
              <a:t>EMPFEHLUNG</a:t>
            </a:r>
          </a:p>
        </p:txBody>
      </p:sp>
      <p:sp>
        <p:nvSpPr>
          <p:cNvPr id="31" name="summary-main-copy">
            <a:extLst xmlns:a="http://schemas.openxmlformats.org/drawingml/2006/main">
              <a:ext uri="{FF2B5EF4-FFF2-40B4-BE49-F238E27FC236}">
                <a16:creationId xmlns:a16="http://schemas.microsoft.com/office/drawing/2014/main" id="{6F108858-8B0F-41EA-B530-4F747EBB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3848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F004C"/>
                </a:solidFill>
              </a:defRPr>
            </a:pPr>
            <a:r>
              <a:rPr sz="923" b="1">
                <a:solidFill>
                  <a:srgbClr val="1F004C"/>
                </a:solidFill>
              </a:rPr>
              <a:t>[Summary: Was sollte das Panel in diesem Gespraech herausfinden? Ein bis zwei konkrete Saetze mit Rolle, Teamfit, fachlicher Tiefe und offener Hypothese.]</a:t>
            </a:r>
          </a:p>
        </p:txBody>
      </p:sp>
      <p:sp>
        <p:nvSpPr>
          <p:cNvPr id="32" name="intro-card">
            <a:extLst xmlns:a="http://schemas.openxmlformats.org/drawingml/2006/main">
              <a:ext uri="{FF2B5EF4-FFF2-40B4-BE49-F238E27FC236}">
                <a16:creationId xmlns:a16="http://schemas.microsoft.com/office/drawing/2014/main" id="{8BE9FBAD-280A-4E1B-802D-832764D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767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33" name="intro-label">
            <a:extLst xmlns:a="http://schemas.openxmlformats.org/drawingml/2006/main">
              <a:ext uri="{FF2B5EF4-FFF2-40B4-BE49-F238E27FC236}">
                <a16:creationId xmlns:a16="http://schemas.microsoft.com/office/drawing/2014/main" id="{6EBE761A-DBA5-4678-A878-AB7659F3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291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004C"/>
                </a:solidFill>
              </a:defRPr>
            </a:pPr>
            <a:r>
              <a:rPr sz="900" b="1">
                <a:solidFill>
                  <a:srgbClr val="1F004C"/>
                </a:solidFill>
              </a:rPr>
              <a:t>Einstieg</a:t>
            </a:r>
          </a:p>
        </p:txBody>
      </p:sp>
      <p:sp>
        <p:nvSpPr>
          <p:cNvPr id="34" name="intro-copy">
            <a:extLst xmlns:a="http://schemas.openxmlformats.org/drawingml/2006/main">
              <a:ext uri="{FF2B5EF4-FFF2-40B4-BE49-F238E27FC236}">
                <a16:creationId xmlns:a16="http://schemas.microsoft.com/office/drawing/2014/main" id="{9F48D99F-94BE-426A-9663-C8ED1C7D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2912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34215F"/>
                </a:solidFill>
              </a:defRPr>
            </a:pPr>
            <a:r>
              <a:rPr sz="825">
                <a:solidFill>
                  <a:srgbClr val="34215F"/>
                </a:solidFill>
              </a:rPr>
              <a:t>[Icebreaker / Intro-Frage, die ruhig ins Gespraech fuehrt und erste Motivation sichtbar macht.]</a:t>
            </a:r>
          </a:p>
        </p:txBody>
      </p:sp>
      <p:sp>
        <p:nvSpPr>
          <p:cNvPr id="35" name="questions-line-green">
            <a:extLst xmlns:a="http://schemas.openxmlformats.org/drawingml/2006/main">
              <a:ext uri="{FF2B5EF4-FFF2-40B4-BE49-F238E27FC236}">
                <a16:creationId xmlns:a16="http://schemas.microsoft.com/office/drawing/2014/main" id="{868BDD5B-036D-4AB4-A373-56E19B03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18141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questions-line-yellow">
            <a:extLst xmlns:a="http://schemas.openxmlformats.org/drawingml/2006/main">
              <a:ext uri="{FF2B5EF4-FFF2-40B4-BE49-F238E27FC236}">
                <a16:creationId xmlns:a16="http://schemas.microsoft.com/office/drawing/2014/main" id="{B3B3E754-2FD1-47EE-820C-7A78ABB5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666" y="5276850"/>
            <a:ext cx="178479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questions-line-coral">
            <a:extLst xmlns:a="http://schemas.openxmlformats.org/drawingml/2006/main">
              <a:ext uri="{FF2B5EF4-FFF2-40B4-BE49-F238E27FC236}">
                <a16:creationId xmlns:a16="http://schemas.microsoft.com/office/drawing/2014/main" id="{AEC98E6F-71B1-45C2-BC08-0EA33342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460" y="5276850"/>
            <a:ext cx="26441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0842B8B2-BAC6-4A96-BFA7-3EAC7F8F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004C"/>
                </a:solidFill>
              </a:defRPr>
            </a:pPr>
            <a:r>
              <a:rPr sz="1500" b="1">
                <a:solidFill>
                  <a:srgbClr val="1F004C"/>
                </a:solidFill>
              </a:rPr>
              <a:t>6 Fragen mit klarer Prioritaet</a:t>
            </a:r>
          </a:p>
        </p:txBody>
      </p:sp>
      <p:sp>
        <p:nvSpPr>
          <p:cNvPr id="39" name="q1-card">
            <a:extLst xmlns:a="http://schemas.openxmlformats.org/drawingml/2006/main">
              <a:ext uri="{FF2B5EF4-FFF2-40B4-BE49-F238E27FC236}">
                <a16:creationId xmlns:a16="http://schemas.microsoft.com/office/drawing/2014/main" id="{3805250E-9EF6-4A52-B5B2-5603A169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32289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F8FF"/>
          </a:solidFill>
          <a:ln xmlns:a="http://schemas.openxmlformats.org/drawingml/2006/main" w="9525">
            <a:solidFill>
              <a:srgbClr val="854BFF"/>
            </a:solidFill>
            <a:prstDash val="solid"/>
          </a:ln>
        </p:spPr>
      </p:sp>
      <p:sp>
        <p:nvSpPr>
          <p:cNvPr id="40" name="q1-num-bg">
            <a:extLst xmlns:a="http://schemas.openxmlformats.org/drawingml/2006/main">
              <a:ext uri="{FF2B5EF4-FFF2-40B4-BE49-F238E27FC236}">
                <a16:creationId xmlns:a16="http://schemas.microsoft.com/office/drawing/2014/main" id="{C92D6543-2BEB-49DB-8F42-3203F170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86450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54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q1-num">
            <a:extLst xmlns:a="http://schemas.openxmlformats.org/drawingml/2006/main">
              <a:ext uri="{FF2B5EF4-FFF2-40B4-BE49-F238E27FC236}">
                <a16:creationId xmlns:a16="http://schemas.microsoft.com/office/drawing/2014/main" id="{7A6E654E-3DFA-4FED-B338-24414E8B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2" name="q1-tag-pill">
            <a:extLst xmlns:a="http://schemas.openxmlformats.org/drawingml/2006/main">
              <a:ext uri="{FF2B5EF4-FFF2-40B4-BE49-F238E27FC236}">
                <a16:creationId xmlns:a16="http://schemas.microsoft.com/office/drawing/2014/main" id="{1F46E014-A3A6-41A5-8639-EF7D81AD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57875"/>
            <a:ext cx="7239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q1-tag-text">
            <a:extLst xmlns:a="http://schemas.openxmlformats.org/drawingml/2006/main">
              <a:ext uri="{FF2B5EF4-FFF2-40B4-BE49-F238E27FC236}">
                <a16:creationId xmlns:a16="http://schemas.microsoft.com/office/drawing/2014/main" id="{0EB9960E-1003-43EE-ADB2-A87D5457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95975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008F76"/>
                </a:solidFill>
              </a:defRPr>
            </a:pPr>
            <a:r>
              <a:rPr sz="615" b="1">
                <a:solidFill>
                  <a:srgbClr val="008F76"/>
                </a:solidFill>
              </a:rPr>
              <a:t>Kernfrage</a:t>
            </a:r>
          </a:p>
        </p:txBody>
      </p:sp>
      <p:sp>
        <p:nvSpPr>
          <p:cNvPr id="44" name="q1-question">
            <a:extLst xmlns:a="http://schemas.openxmlformats.org/drawingml/2006/main">
              <a:ext uri="{FF2B5EF4-FFF2-40B4-BE49-F238E27FC236}">
                <a16:creationId xmlns:a16="http://schemas.microsoft.com/office/drawing/2014/main" id="{B6A29632-FA17-452B-A76F-53322933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674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F004C"/>
                </a:solidFill>
              </a:defRPr>
            </a:pPr>
            <a:r>
              <a:rPr sz="720" b="1">
                <a:solidFill>
                  <a:srgbClr val="1F004C"/>
                </a:solidFill>
              </a:rPr>
              <a:t>[Frage 1] - fachlicher Deep Dive mit konkretem Projektbezug</a:t>
            </a:r>
          </a:p>
        </p:txBody>
      </p:sp>
      <p:sp>
        <p:nvSpPr>
          <p:cNvPr id="45" name="q1-why">
            <a:extLst xmlns:a="http://schemas.openxmlformats.org/drawingml/2006/main">
              <a:ext uri="{FF2B5EF4-FFF2-40B4-BE49-F238E27FC236}">
                <a16:creationId xmlns:a16="http://schemas.microsoft.com/office/drawing/2014/main" id="{649E6990-1A36-4243-AD0C-7254DBC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05550"/>
            <a:ext cx="26193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5A4A7A"/>
                </a:solidFill>
              </a:defRPr>
            </a:pPr>
            <a:r>
              <a:rPr sz="600">
                <a:solidFill>
                  <a:srgbClr val="5A4A7A"/>
                </a:solidFill>
              </a:rPr>
              <a:t>[Warum diese Frage / Signal] - Erfahrung</a:t>
            </a:r>
          </a:p>
        </p:txBody>
      </p:sp>
      <p:sp>
        <p:nvSpPr>
          <p:cNvPr id="46" name="q1-source">
            <a:extLst xmlns:a="http://schemas.openxmlformats.org/drawingml/2006/main">
              <a:ext uri="{FF2B5EF4-FFF2-40B4-BE49-F238E27FC236}">
                <a16:creationId xmlns:a16="http://schemas.microsoft.com/office/drawing/2014/main" id="{AE33A5CA-5B5D-4632-98C6-CB391587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19850"/>
            <a:ext cx="26193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">
                <a:solidFill>
                  <a:srgbClr val="008F76"/>
                </a:solidFill>
              </a:defRPr>
            </a:pPr>
            <a:r>
              <a:rPr sz="585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47" name="q2-card">
            <a:extLst xmlns:a="http://schemas.openxmlformats.org/drawingml/2006/main">
              <a:ext uri="{FF2B5EF4-FFF2-40B4-BE49-F238E27FC236}">
                <a16:creationId xmlns:a16="http://schemas.microsoft.com/office/drawing/2014/main" id="{71647024-93F7-4E1A-87ED-9C4B2D4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53100"/>
            <a:ext cx="32289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F8FF"/>
          </a:solidFill>
          <a:ln xmlns:a="http://schemas.openxmlformats.org/drawingml/2006/main" w="9525">
            <a:solidFill>
              <a:srgbClr val="854BFF"/>
            </a:solidFill>
            <a:prstDash val="solid"/>
          </a:ln>
        </p:spPr>
      </p:sp>
      <p:sp>
        <p:nvSpPr>
          <p:cNvPr id="48" name="q2-num-bg">
            <a:extLst xmlns:a="http://schemas.openxmlformats.org/drawingml/2006/main">
              <a:ext uri="{FF2B5EF4-FFF2-40B4-BE49-F238E27FC236}">
                <a16:creationId xmlns:a16="http://schemas.microsoft.com/office/drawing/2014/main" id="{056FDE9E-20A9-4A5F-87A9-04FC40F3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886450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54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q2-num">
            <a:extLst xmlns:a="http://schemas.openxmlformats.org/drawingml/2006/main">
              <a:ext uri="{FF2B5EF4-FFF2-40B4-BE49-F238E27FC236}">
                <a16:creationId xmlns:a16="http://schemas.microsoft.com/office/drawing/2014/main" id="{2FE9178B-8790-49F1-A54F-CCD7FB95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436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0" name="q2-tag-pill">
            <a:extLst xmlns:a="http://schemas.openxmlformats.org/drawingml/2006/main">
              <a:ext uri="{FF2B5EF4-FFF2-40B4-BE49-F238E27FC236}">
                <a16:creationId xmlns:a16="http://schemas.microsoft.com/office/drawing/2014/main" id="{BDBD0D2F-5A3F-4609-A22F-AEF90ED1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857875"/>
            <a:ext cx="7239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q2-tag-text">
            <a:extLst xmlns:a="http://schemas.openxmlformats.org/drawingml/2006/main">
              <a:ext uri="{FF2B5EF4-FFF2-40B4-BE49-F238E27FC236}">
                <a16:creationId xmlns:a16="http://schemas.microsoft.com/office/drawing/2014/main" id="{2CE63FF8-37BC-4C47-B736-CDCF3536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895975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008F76"/>
                </a:solidFill>
              </a:defRPr>
            </a:pPr>
            <a:r>
              <a:rPr sz="615" b="1">
                <a:solidFill>
                  <a:srgbClr val="008F76"/>
                </a:solidFill>
              </a:rPr>
              <a:t>Kernfrage</a:t>
            </a:r>
          </a:p>
        </p:txBody>
      </p:sp>
      <p:sp>
        <p:nvSpPr>
          <p:cNvPr id="52" name="q2-question">
            <a:extLst xmlns:a="http://schemas.openxmlformats.org/drawingml/2006/main">
              <a:ext uri="{FF2B5EF4-FFF2-40B4-BE49-F238E27FC236}">
                <a16:creationId xmlns:a16="http://schemas.microsoft.com/office/drawing/2014/main" id="{42857A68-7D5F-45FE-A23F-CA99B3D4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0674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F004C"/>
                </a:solidFill>
              </a:defRPr>
            </a:pPr>
            <a:r>
              <a:rPr sz="720" b="1">
                <a:solidFill>
                  <a:srgbClr val="1F004C"/>
                </a:solidFill>
              </a:rPr>
              <a:t>[Frage 2] - Teamfit, Stakeholder oder Entscheidungsverhalten</a:t>
            </a:r>
          </a:p>
        </p:txBody>
      </p:sp>
      <p:sp>
        <p:nvSpPr>
          <p:cNvPr id="53" name="q2-why">
            <a:extLst xmlns:a="http://schemas.openxmlformats.org/drawingml/2006/main">
              <a:ext uri="{FF2B5EF4-FFF2-40B4-BE49-F238E27FC236}">
                <a16:creationId xmlns:a16="http://schemas.microsoft.com/office/drawing/2014/main" id="{A3DCFABC-3CAA-4606-B298-95D1570F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305550"/>
            <a:ext cx="26193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5A4A7A"/>
                </a:solidFill>
              </a:defRPr>
            </a:pPr>
            <a:r>
              <a:rPr sz="600">
                <a:solidFill>
                  <a:srgbClr val="5A4A7A"/>
                </a:solidFill>
              </a:rPr>
              <a:t>[Warum diese Frage / Signal] - Teamfit</a:t>
            </a:r>
          </a:p>
        </p:txBody>
      </p:sp>
      <p:sp>
        <p:nvSpPr>
          <p:cNvPr id="54" name="q2-source">
            <a:extLst xmlns:a="http://schemas.openxmlformats.org/drawingml/2006/main">
              <a:ext uri="{FF2B5EF4-FFF2-40B4-BE49-F238E27FC236}">
                <a16:creationId xmlns:a16="http://schemas.microsoft.com/office/drawing/2014/main" id="{5B15F9BB-FFB1-4A2C-9083-DB969EE2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419850"/>
            <a:ext cx="26193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">
                <a:solidFill>
                  <a:srgbClr val="008F76"/>
                </a:solidFill>
              </a:defRPr>
            </a:pPr>
            <a:r>
              <a:rPr sz="585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55" name="q3-card">
            <a:extLst xmlns:a="http://schemas.openxmlformats.org/drawingml/2006/main">
              <a:ext uri="{FF2B5EF4-FFF2-40B4-BE49-F238E27FC236}">
                <a16:creationId xmlns:a16="http://schemas.microsoft.com/office/drawing/2014/main" id="{CBDB0614-6ED0-4312-B7E9-D71E8DBC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91300"/>
            <a:ext cx="32289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56" name="q3-num-bg">
            <a:extLst xmlns:a="http://schemas.openxmlformats.org/drawingml/2006/main">
              <a:ext uri="{FF2B5EF4-FFF2-40B4-BE49-F238E27FC236}">
                <a16:creationId xmlns:a16="http://schemas.microsoft.com/office/drawing/2014/main" id="{30F1BB26-A91C-48AE-962E-079B9024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24650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q3-num">
            <a:extLst xmlns:a="http://schemas.openxmlformats.org/drawingml/2006/main">
              <a:ext uri="{FF2B5EF4-FFF2-40B4-BE49-F238E27FC236}">
                <a16:creationId xmlns:a16="http://schemas.microsoft.com/office/drawing/2014/main" id="{715CEB85-4177-4289-B5AB-2FFD65E0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818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54BFF"/>
                </a:solidFill>
              </a:defRPr>
            </a:pPr>
            <a:r>
              <a:rPr sz="750" b="1">
                <a:solidFill>
                  <a:srgbClr val="854BFF"/>
                </a:solidFill>
              </a:rPr>
              <a:t>3</a:t>
            </a:r>
          </a:p>
        </p:txBody>
      </p:sp>
      <p:sp>
        <p:nvSpPr>
          <p:cNvPr id="58" name="q3-tag-pill">
            <a:extLst xmlns:a="http://schemas.openxmlformats.org/drawingml/2006/main">
              <a:ext uri="{FF2B5EF4-FFF2-40B4-BE49-F238E27FC236}">
                <a16:creationId xmlns:a16="http://schemas.microsoft.com/office/drawing/2014/main" id="{89AB4731-74D2-4CAB-A3A3-84AAA18F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96075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q3-tag-text">
            <a:extLst xmlns:a="http://schemas.openxmlformats.org/drawingml/2006/main">
              <a:ext uri="{FF2B5EF4-FFF2-40B4-BE49-F238E27FC236}">
                <a16:creationId xmlns:a16="http://schemas.microsoft.com/office/drawing/2014/main" id="{60F7AA80-0078-46B2-AE8C-5371927A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734175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5A4A7A"/>
                </a:solidFill>
              </a:defRPr>
            </a:pPr>
            <a:r>
              <a:rPr sz="615" b="1">
                <a:solidFill>
                  <a:srgbClr val="5A4A7A"/>
                </a:solidFill>
              </a:rPr>
              <a:t>Fachlichkeit</a:t>
            </a:r>
          </a:p>
        </p:txBody>
      </p:sp>
      <p:sp>
        <p:nvSpPr>
          <p:cNvPr id="60" name="q3-question">
            <a:extLst xmlns:a="http://schemas.openxmlformats.org/drawingml/2006/main">
              <a:ext uri="{FF2B5EF4-FFF2-40B4-BE49-F238E27FC236}">
                <a16:creationId xmlns:a16="http://schemas.microsoft.com/office/drawing/2014/main" id="{9A0BBDEB-64EF-41F7-9FC8-3BA4F655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9056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F004C"/>
                </a:solidFill>
              </a:defRPr>
            </a:pPr>
            <a:r>
              <a:rPr sz="720" b="1">
                <a:solidFill>
                  <a:srgbClr val="1F004C"/>
                </a:solidFill>
              </a:rPr>
              <a:t>[Frage 3] - Architektur, Tooling oder Methodik</a:t>
            </a:r>
          </a:p>
        </p:txBody>
      </p:sp>
      <p:sp>
        <p:nvSpPr>
          <p:cNvPr id="61" name="q3-why">
            <a:extLst xmlns:a="http://schemas.openxmlformats.org/drawingml/2006/main">
              <a:ext uri="{FF2B5EF4-FFF2-40B4-BE49-F238E27FC236}">
                <a16:creationId xmlns:a16="http://schemas.microsoft.com/office/drawing/2014/main" id="{B375A80C-41B6-4E5F-B053-0DB6C753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43750"/>
            <a:ext cx="26193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5A4A7A"/>
                </a:solidFill>
              </a:defRPr>
            </a:pPr>
            <a:r>
              <a:rPr sz="600">
                <a:solidFill>
                  <a:srgbClr val="5A4A7A"/>
                </a:solidFill>
              </a:rPr>
              <a:t>[Warum diese Frage / Signal]</a:t>
            </a:r>
          </a:p>
        </p:txBody>
      </p:sp>
      <p:sp>
        <p:nvSpPr>
          <p:cNvPr id="62" name="q3-source">
            <a:extLst xmlns:a="http://schemas.openxmlformats.org/drawingml/2006/main">
              <a:ext uri="{FF2B5EF4-FFF2-40B4-BE49-F238E27FC236}">
                <a16:creationId xmlns:a16="http://schemas.microsoft.com/office/drawing/2014/main" id="{513407BA-1893-4AC8-BECF-053FF20E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58050"/>
            <a:ext cx="26193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">
                <a:solidFill>
                  <a:srgbClr val="008F76"/>
                </a:solidFill>
              </a:defRPr>
            </a:pPr>
            <a:r>
              <a:rPr sz="585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63" name="q4-card">
            <a:extLst xmlns:a="http://schemas.openxmlformats.org/drawingml/2006/main">
              <a:ext uri="{FF2B5EF4-FFF2-40B4-BE49-F238E27FC236}">
                <a16:creationId xmlns:a16="http://schemas.microsoft.com/office/drawing/2014/main" id="{BB6DBFD0-2116-4A24-8C75-5BF24EDB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591300"/>
            <a:ext cx="32289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64" name="q4-num-bg">
            <a:extLst xmlns:a="http://schemas.openxmlformats.org/drawingml/2006/main">
              <a:ext uri="{FF2B5EF4-FFF2-40B4-BE49-F238E27FC236}">
                <a16:creationId xmlns:a16="http://schemas.microsoft.com/office/drawing/2014/main" id="{F0B1CA3E-1CF0-49C6-9372-36823276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724650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q4-num">
            <a:extLst xmlns:a="http://schemas.openxmlformats.org/drawingml/2006/main">
              <a:ext uri="{FF2B5EF4-FFF2-40B4-BE49-F238E27FC236}">
                <a16:creationId xmlns:a16="http://schemas.microsoft.com/office/drawing/2014/main" id="{F503D772-4D3F-4568-B0EF-5E58051C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7818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54BFF"/>
                </a:solidFill>
              </a:defRPr>
            </a:pPr>
            <a:r>
              <a:rPr sz="750" b="1">
                <a:solidFill>
                  <a:srgbClr val="854BFF"/>
                </a:solidFill>
              </a:rPr>
              <a:t>4</a:t>
            </a:r>
          </a:p>
        </p:txBody>
      </p:sp>
      <p:sp>
        <p:nvSpPr>
          <p:cNvPr id="66" name="q4-tag-pill">
            <a:extLst xmlns:a="http://schemas.openxmlformats.org/drawingml/2006/main">
              <a:ext uri="{FF2B5EF4-FFF2-40B4-BE49-F238E27FC236}">
                <a16:creationId xmlns:a16="http://schemas.microsoft.com/office/drawing/2014/main" id="{C8831E16-439D-4282-BECD-5382FE7E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696075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q4-tag-text">
            <a:extLst xmlns:a="http://schemas.openxmlformats.org/drawingml/2006/main">
              <a:ext uri="{FF2B5EF4-FFF2-40B4-BE49-F238E27FC236}">
                <a16:creationId xmlns:a16="http://schemas.microsoft.com/office/drawing/2014/main" id="{94ED8CB7-21DF-40E0-8E8F-891757B2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734175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5A4A7A"/>
                </a:solidFill>
              </a:defRPr>
            </a:pPr>
            <a:r>
              <a:rPr sz="615" b="1">
                <a:solidFill>
                  <a:srgbClr val="5A4A7A"/>
                </a:solidFill>
              </a:rPr>
              <a:t>Zusammenarbeit</a:t>
            </a:r>
          </a:p>
        </p:txBody>
      </p:sp>
      <p:sp>
        <p:nvSpPr>
          <p:cNvPr id="68" name="q4-question">
            <a:extLst xmlns:a="http://schemas.openxmlformats.org/drawingml/2006/main">
              <a:ext uri="{FF2B5EF4-FFF2-40B4-BE49-F238E27FC236}">
                <a16:creationId xmlns:a16="http://schemas.microsoft.com/office/drawing/2014/main" id="{32F75019-E0A7-48B0-8602-C6423EB1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9056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F004C"/>
                </a:solidFill>
              </a:defRPr>
            </a:pPr>
            <a:r>
              <a:rPr sz="720" b="1">
                <a:solidFill>
                  <a:srgbClr val="1F004C"/>
                </a:solidFill>
              </a:rPr>
              <a:t>[Frage 4] - Konflikt, Kommunikation oder Ownership</a:t>
            </a:r>
          </a:p>
        </p:txBody>
      </p:sp>
      <p:sp>
        <p:nvSpPr>
          <p:cNvPr id="69" name="q4-why">
            <a:extLst xmlns:a="http://schemas.openxmlformats.org/drawingml/2006/main">
              <a:ext uri="{FF2B5EF4-FFF2-40B4-BE49-F238E27FC236}">
                <a16:creationId xmlns:a16="http://schemas.microsoft.com/office/drawing/2014/main" id="{EB5A6D3E-D8E1-4311-8B53-ABAF6326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7143750"/>
            <a:ext cx="26193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5A4A7A"/>
                </a:solidFill>
              </a:defRPr>
            </a:pPr>
            <a:r>
              <a:rPr sz="600">
                <a:solidFill>
                  <a:srgbClr val="5A4A7A"/>
                </a:solidFill>
              </a:rPr>
              <a:t>[Warum diese Frage / Signal]</a:t>
            </a:r>
          </a:p>
        </p:txBody>
      </p:sp>
      <p:sp>
        <p:nvSpPr>
          <p:cNvPr id="70" name="q4-source">
            <a:extLst xmlns:a="http://schemas.openxmlformats.org/drawingml/2006/main">
              <a:ext uri="{FF2B5EF4-FFF2-40B4-BE49-F238E27FC236}">
                <a16:creationId xmlns:a16="http://schemas.microsoft.com/office/drawing/2014/main" id="{D3A96104-BB89-4232-A5C7-7B98A14F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7258050"/>
            <a:ext cx="26193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">
                <a:solidFill>
                  <a:srgbClr val="008F76"/>
                </a:solidFill>
              </a:defRPr>
            </a:pPr>
            <a:r>
              <a:rPr sz="585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71" name="q5-card">
            <a:extLst xmlns:a="http://schemas.openxmlformats.org/drawingml/2006/main">
              <a:ext uri="{FF2B5EF4-FFF2-40B4-BE49-F238E27FC236}">
                <a16:creationId xmlns:a16="http://schemas.microsoft.com/office/drawing/2014/main" id="{9F573378-C135-4642-A918-772F65DF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0"/>
            <a:ext cx="32289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72" name="q5-num-bg">
            <a:extLst xmlns:a="http://schemas.openxmlformats.org/drawingml/2006/main">
              <a:ext uri="{FF2B5EF4-FFF2-40B4-BE49-F238E27FC236}">
                <a16:creationId xmlns:a16="http://schemas.microsoft.com/office/drawing/2014/main" id="{35AE7D63-D879-43B3-AB21-7BB3A1D1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62850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q5-num">
            <a:extLst xmlns:a="http://schemas.openxmlformats.org/drawingml/2006/main">
              <a:ext uri="{FF2B5EF4-FFF2-40B4-BE49-F238E27FC236}">
                <a16:creationId xmlns:a16="http://schemas.microsoft.com/office/drawing/2014/main" id="{6BFFD9B7-3F5B-4CD1-AAA3-954A81D8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54BFF"/>
                </a:solidFill>
              </a:defRPr>
            </a:pPr>
            <a:r>
              <a:rPr sz="750" b="1">
                <a:solidFill>
                  <a:srgbClr val="854BFF"/>
                </a:solidFill>
              </a:rPr>
              <a:t>5</a:t>
            </a:r>
          </a:p>
        </p:txBody>
      </p:sp>
      <p:sp>
        <p:nvSpPr>
          <p:cNvPr id="74" name="q5-tag-pill">
            <a:extLst xmlns:a="http://schemas.openxmlformats.org/drawingml/2006/main">
              <a:ext uri="{FF2B5EF4-FFF2-40B4-BE49-F238E27FC236}">
                <a16:creationId xmlns:a16="http://schemas.microsoft.com/office/drawing/2014/main" id="{A25F0251-AE3D-4CFC-AA3D-37C244AE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34275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q5-tag-text">
            <a:extLst xmlns:a="http://schemas.openxmlformats.org/drawingml/2006/main">
              <a:ext uri="{FF2B5EF4-FFF2-40B4-BE49-F238E27FC236}">
                <a16:creationId xmlns:a16="http://schemas.microsoft.com/office/drawing/2014/main" id="{E28321FF-896D-4F75-AEF8-273818EB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572375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5A4A7A"/>
                </a:solidFill>
              </a:defRPr>
            </a:pPr>
            <a:r>
              <a:rPr sz="615" b="1">
                <a:solidFill>
                  <a:srgbClr val="5A4A7A"/>
                </a:solidFill>
              </a:rPr>
              <a:t>Lernkurve</a:t>
            </a:r>
          </a:p>
        </p:txBody>
      </p:sp>
      <p:sp>
        <p:nvSpPr>
          <p:cNvPr id="76" name="q5-question">
            <a:extLst xmlns:a="http://schemas.openxmlformats.org/drawingml/2006/main">
              <a:ext uri="{FF2B5EF4-FFF2-40B4-BE49-F238E27FC236}">
                <a16:creationId xmlns:a16="http://schemas.microsoft.com/office/drawing/2014/main" id="{F32CB146-7284-4DE6-B8C5-A0F19995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438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F004C"/>
                </a:solidFill>
              </a:defRPr>
            </a:pPr>
            <a:r>
              <a:rPr sz="720" b="1">
                <a:solidFill>
                  <a:srgbClr val="1F004C"/>
                </a:solidFill>
              </a:rPr>
              <a:t>[Frage 5] - Reflexion, Feedback oder Entwicklung</a:t>
            </a:r>
          </a:p>
        </p:txBody>
      </p:sp>
      <p:sp>
        <p:nvSpPr>
          <p:cNvPr id="77" name="q5-why">
            <a:extLst xmlns:a="http://schemas.openxmlformats.org/drawingml/2006/main">
              <a:ext uri="{FF2B5EF4-FFF2-40B4-BE49-F238E27FC236}">
                <a16:creationId xmlns:a16="http://schemas.microsoft.com/office/drawing/2014/main" id="{B7BB9382-8D65-4512-9AD6-90A3E082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981950"/>
            <a:ext cx="26193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5A4A7A"/>
                </a:solidFill>
              </a:defRPr>
            </a:pPr>
            <a:r>
              <a:rPr sz="600">
                <a:solidFill>
                  <a:srgbClr val="5A4A7A"/>
                </a:solidFill>
              </a:rPr>
              <a:t>[Warum diese Frage / Signal]</a:t>
            </a:r>
          </a:p>
        </p:txBody>
      </p:sp>
      <p:sp>
        <p:nvSpPr>
          <p:cNvPr id="78" name="q5-source">
            <a:extLst xmlns:a="http://schemas.openxmlformats.org/drawingml/2006/main">
              <a:ext uri="{FF2B5EF4-FFF2-40B4-BE49-F238E27FC236}">
                <a16:creationId xmlns:a16="http://schemas.microsoft.com/office/drawing/2014/main" id="{034F0CFF-8106-44D3-90A2-08F8697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096250"/>
            <a:ext cx="26193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">
                <a:solidFill>
                  <a:srgbClr val="008F76"/>
                </a:solidFill>
              </a:defRPr>
            </a:pPr>
            <a:r>
              <a:rPr sz="585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79" name="q6-card">
            <a:extLst xmlns:a="http://schemas.openxmlformats.org/drawingml/2006/main">
              <a:ext uri="{FF2B5EF4-FFF2-40B4-BE49-F238E27FC236}">
                <a16:creationId xmlns:a16="http://schemas.microsoft.com/office/drawing/2014/main" id="{DFE6F858-5952-4227-83BC-D508F82F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429500"/>
            <a:ext cx="32289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80" name="q6-num-bg">
            <a:extLst xmlns:a="http://schemas.openxmlformats.org/drawingml/2006/main">
              <a:ext uri="{FF2B5EF4-FFF2-40B4-BE49-F238E27FC236}">
                <a16:creationId xmlns:a16="http://schemas.microsoft.com/office/drawing/2014/main" id="{F633B488-FBED-4903-999B-5F0C1E46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7562850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q6-num">
            <a:extLst xmlns:a="http://schemas.openxmlformats.org/drawingml/2006/main">
              <a:ext uri="{FF2B5EF4-FFF2-40B4-BE49-F238E27FC236}">
                <a16:creationId xmlns:a16="http://schemas.microsoft.com/office/drawing/2014/main" id="{E6F51D6D-F525-40EB-9A6D-1211B194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76200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54BFF"/>
                </a:solidFill>
              </a:defRPr>
            </a:pPr>
            <a:r>
              <a:rPr sz="750" b="1">
                <a:solidFill>
                  <a:srgbClr val="854BFF"/>
                </a:solidFill>
              </a:rPr>
              <a:t>6</a:t>
            </a:r>
          </a:p>
        </p:txBody>
      </p:sp>
      <p:sp>
        <p:nvSpPr>
          <p:cNvPr id="82" name="q6-tag-pill">
            <a:extLst xmlns:a="http://schemas.openxmlformats.org/drawingml/2006/main">
              <a:ext uri="{FF2B5EF4-FFF2-40B4-BE49-F238E27FC236}">
                <a16:creationId xmlns:a16="http://schemas.microsoft.com/office/drawing/2014/main" id="{F43FFAC7-B7A8-41B9-9CE4-4FF233D7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7534275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q6-tag-text">
            <a:extLst xmlns:a="http://schemas.openxmlformats.org/drawingml/2006/main">
              <a:ext uri="{FF2B5EF4-FFF2-40B4-BE49-F238E27FC236}">
                <a16:creationId xmlns:a16="http://schemas.microsoft.com/office/drawing/2014/main" id="{DFA4AA37-15D1-483A-99E9-FC63B85E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7572375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5A4A7A"/>
                </a:solidFill>
              </a:defRPr>
            </a:pPr>
            <a:r>
              <a:rPr sz="615" b="1">
                <a:solidFill>
                  <a:srgbClr val="5A4A7A"/>
                </a:solidFill>
              </a:rPr>
              <a:t>Motivation</a:t>
            </a:r>
          </a:p>
        </p:txBody>
      </p:sp>
      <p:sp>
        <p:nvSpPr>
          <p:cNvPr id="84" name="q6-question">
            <a:extLst xmlns:a="http://schemas.openxmlformats.org/drawingml/2006/main">
              <a:ext uri="{FF2B5EF4-FFF2-40B4-BE49-F238E27FC236}">
                <a16:creationId xmlns:a16="http://schemas.microsoft.com/office/drawing/2014/main" id="{857074BF-04A8-42B9-AF3C-F244C68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77438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F004C"/>
                </a:solidFill>
              </a:defRPr>
            </a:pPr>
            <a:r>
              <a:rPr sz="720" b="1">
                <a:solidFill>
                  <a:srgbClr val="1F004C"/>
                </a:solidFill>
              </a:rPr>
              <a:t>[Frage 6] - Erwartung an Rolle und Metafinanz</a:t>
            </a:r>
          </a:p>
        </p:txBody>
      </p:sp>
      <p:sp>
        <p:nvSpPr>
          <p:cNvPr id="85" name="q6-why">
            <a:extLst xmlns:a="http://schemas.openxmlformats.org/drawingml/2006/main">
              <a:ext uri="{FF2B5EF4-FFF2-40B4-BE49-F238E27FC236}">
                <a16:creationId xmlns:a16="http://schemas.microsoft.com/office/drawing/2014/main" id="{72E3E147-99E5-48FB-A76D-E83CF858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7981950"/>
            <a:ext cx="26193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>
                <a:solidFill>
                  <a:srgbClr val="5A4A7A"/>
                </a:solidFill>
              </a:defRPr>
            </a:pPr>
            <a:r>
              <a:rPr sz="600">
                <a:solidFill>
                  <a:srgbClr val="5A4A7A"/>
                </a:solidFill>
              </a:rPr>
              <a:t>[Warum diese Frage / Signal]</a:t>
            </a:r>
          </a:p>
        </p:txBody>
      </p:sp>
      <p:sp>
        <p:nvSpPr>
          <p:cNvPr id="86" name="q6-source">
            <a:extLst xmlns:a="http://schemas.openxmlformats.org/drawingml/2006/main">
              <a:ext uri="{FF2B5EF4-FFF2-40B4-BE49-F238E27FC236}">
                <a16:creationId xmlns:a16="http://schemas.microsoft.com/office/drawing/2014/main" id="{B7D3FEB2-5D01-427E-BA6A-C3EAA9C2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8096250"/>
            <a:ext cx="26193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">
                <a:solidFill>
                  <a:srgbClr val="008F76"/>
                </a:solidFill>
              </a:defRPr>
            </a:pPr>
            <a:r>
              <a:rPr sz="585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87" name="risks-line-green">
            <a:extLst xmlns:a="http://schemas.openxmlformats.org/drawingml/2006/main">
              <a:ext uri="{FF2B5EF4-FFF2-40B4-BE49-F238E27FC236}">
                <a16:creationId xmlns:a16="http://schemas.microsoft.com/office/drawing/2014/main" id="{E8FB7304-6C9B-4C9C-9BD2-BB2764C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362950"/>
            <a:ext cx="102155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risks-line-yellow">
            <a:extLst xmlns:a="http://schemas.openxmlformats.org/drawingml/2006/main">
              <a:ext uri="{FF2B5EF4-FFF2-40B4-BE49-F238E27FC236}">
                <a16:creationId xmlns:a16="http://schemas.microsoft.com/office/drawing/2014/main" id="{0EED7B43-5F6D-4F59-B262-B4B8221B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8362950"/>
            <a:ext cx="8358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risks-line-coral">
            <a:extLst xmlns:a="http://schemas.openxmlformats.org/drawingml/2006/main">
              <a:ext uri="{FF2B5EF4-FFF2-40B4-BE49-F238E27FC236}">
                <a16:creationId xmlns:a16="http://schemas.microsoft.com/office/drawing/2014/main" id="{B15063BC-AF3C-4611-A696-5896CDD4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isks-title">
            <a:extLst xmlns:a="http://schemas.openxmlformats.org/drawingml/2006/main">
              <a:ext uri="{FF2B5EF4-FFF2-40B4-BE49-F238E27FC236}">
                <a16:creationId xmlns:a16="http://schemas.microsoft.com/office/drawing/2014/main" id="{67AE7609-2706-4D9F-BA9F-3B33737E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53440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004C"/>
                </a:solidFill>
              </a:defRPr>
            </a:pPr>
            <a:r>
              <a:rPr sz="1500" b="1">
                <a:solidFill>
                  <a:srgbClr val="1F004C"/>
                </a:solidFill>
              </a:rPr>
              <a:t>Zu verifizieren</a:t>
            </a:r>
          </a:p>
        </p:txBody>
      </p:sp>
      <p:sp>
        <p:nvSpPr>
          <p:cNvPr id="91" name="flow-line-green">
            <a:extLst xmlns:a="http://schemas.openxmlformats.org/drawingml/2006/main">
              <a:ext uri="{FF2B5EF4-FFF2-40B4-BE49-F238E27FC236}">
                <a16:creationId xmlns:a16="http://schemas.microsoft.com/office/drawing/2014/main" id="{D60BEA5C-3854-4D95-8C61-DF03E8C5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362950"/>
            <a:ext cx="10655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flow-line-yellow">
            <a:extLst xmlns:a="http://schemas.openxmlformats.org/drawingml/2006/main">
              <a:ext uri="{FF2B5EF4-FFF2-40B4-BE49-F238E27FC236}">
                <a16:creationId xmlns:a16="http://schemas.microsoft.com/office/drawing/2014/main" id="{0C5D3A5E-CC5C-4BAC-9872-620CFC17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187" y="8362950"/>
            <a:ext cx="87182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flow-line-coral">
            <a:extLst xmlns:a="http://schemas.openxmlformats.org/drawingml/2006/main">
              <a:ext uri="{FF2B5EF4-FFF2-40B4-BE49-F238E27FC236}">
                <a16:creationId xmlns:a16="http://schemas.microsoft.com/office/drawing/2014/main" id="{8D80B974-F909-4A3C-9E7D-7C7ADD5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8362950"/>
            <a:ext cx="129159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flow-title">
            <a:extLst xmlns:a="http://schemas.openxmlformats.org/drawingml/2006/main">
              <a:ext uri="{FF2B5EF4-FFF2-40B4-BE49-F238E27FC236}">
                <a16:creationId xmlns:a16="http://schemas.microsoft.com/office/drawing/2014/main" id="{8AA84703-E58E-4697-A691-0C6CA3B1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534400"/>
            <a:ext cx="3228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004C"/>
                </a:solidFill>
              </a:defRPr>
            </a:pPr>
            <a:r>
              <a:rPr sz="1500" b="1">
                <a:solidFill>
                  <a:srgbClr val="1F004C"/>
                </a:solidFill>
              </a:rPr>
              <a:t>Empfohlener Ablauf</a:t>
            </a:r>
          </a:p>
        </p:txBody>
      </p:sp>
      <p:sp>
        <p:nvSpPr>
          <p:cNvPr id="95" name="risk1">
            <a:extLst xmlns:a="http://schemas.openxmlformats.org/drawingml/2006/main">
              <a:ext uri="{FF2B5EF4-FFF2-40B4-BE49-F238E27FC236}">
                <a16:creationId xmlns:a16="http://schemas.microsoft.com/office/drawing/2014/main" id="{AFE4073B-EB49-4D8F-9378-20C752E3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858250"/>
            <a:ext cx="30956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F4E8C2"/>
            </a:solidFill>
            <a:prstDash val="solid"/>
          </a:ln>
        </p:spPr>
      </p:sp>
      <p:sp>
        <p:nvSpPr>
          <p:cNvPr id="96" name="risk1-bang">
            <a:extLst xmlns:a="http://schemas.openxmlformats.org/drawingml/2006/main">
              <a:ext uri="{FF2B5EF4-FFF2-40B4-BE49-F238E27FC236}">
                <a16:creationId xmlns:a16="http://schemas.microsoft.com/office/drawing/2014/main" id="{7953D820-082C-40BC-B623-2DA0D0C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34450"/>
            <a:ext cx="95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7600"/>
                </a:solidFill>
              </a:defRPr>
            </a:pPr>
            <a:r>
              <a:rPr sz="825" b="1">
                <a:solidFill>
                  <a:srgbClr val="9B7600"/>
                </a:solidFill>
              </a:rPr>
              <a:t>!</a:t>
            </a:r>
          </a:p>
        </p:txBody>
      </p:sp>
      <p:sp>
        <p:nvSpPr>
          <p:cNvPr id="97" name="risk1-text">
            <a:extLst xmlns:a="http://schemas.openxmlformats.org/drawingml/2006/main">
              <a:ext uri="{FF2B5EF4-FFF2-40B4-BE49-F238E27FC236}">
                <a16:creationId xmlns:a16="http://schemas.microsoft.com/office/drawing/2014/main" id="{DBF5EADC-A081-4C05-9D5E-4A767C20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934450"/>
            <a:ext cx="2571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05">
                <a:solidFill>
                  <a:srgbClr val="1F004C"/>
                </a:solidFill>
              </a:defRPr>
            </a:pPr>
            <a:r>
              <a:rPr sz="705">
                <a:solidFill>
                  <a:srgbClr val="1F004C"/>
                </a:solidFill>
              </a:rPr>
              <a:t>[Offenes Risiko / Hypothese 1] - konkret pruefen.</a:t>
            </a:r>
          </a:p>
        </p:txBody>
      </p:sp>
      <p:sp>
        <p:nvSpPr>
          <p:cNvPr id="98" name="risk2">
            <a:extLst xmlns:a="http://schemas.openxmlformats.org/drawingml/2006/main">
              <a:ext uri="{FF2B5EF4-FFF2-40B4-BE49-F238E27FC236}">
                <a16:creationId xmlns:a16="http://schemas.microsoft.com/office/drawing/2014/main" id="{22A7DF93-4774-4B2A-A7A8-D7337D53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239250"/>
            <a:ext cx="30956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F4E8C2"/>
            </a:solidFill>
            <a:prstDash val="solid"/>
          </a:ln>
        </p:spPr>
      </p:sp>
      <p:sp>
        <p:nvSpPr>
          <p:cNvPr id="99" name="risk2-bang">
            <a:extLst xmlns:a="http://schemas.openxmlformats.org/drawingml/2006/main">
              <a:ext uri="{FF2B5EF4-FFF2-40B4-BE49-F238E27FC236}">
                <a16:creationId xmlns:a16="http://schemas.microsoft.com/office/drawing/2014/main" id="{E0608B18-A673-4737-B87F-81A6F018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15450"/>
            <a:ext cx="95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7600"/>
                </a:solidFill>
              </a:defRPr>
            </a:pPr>
            <a:r>
              <a:rPr sz="825" b="1">
                <a:solidFill>
                  <a:srgbClr val="9B7600"/>
                </a:solidFill>
              </a:rPr>
              <a:t>!</a:t>
            </a:r>
          </a:p>
        </p:txBody>
      </p:sp>
      <p:sp>
        <p:nvSpPr>
          <p:cNvPr id="100" name="risk2-text">
            <a:extLst xmlns:a="http://schemas.openxmlformats.org/drawingml/2006/main">
              <a:ext uri="{FF2B5EF4-FFF2-40B4-BE49-F238E27FC236}">
                <a16:creationId xmlns:a16="http://schemas.microsoft.com/office/drawing/2014/main" id="{5660F16D-F1BF-4935-A58C-1D11E542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15450"/>
            <a:ext cx="2571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05">
                <a:solidFill>
                  <a:srgbClr val="1F004C"/>
                </a:solidFill>
              </a:defRPr>
            </a:pPr>
            <a:r>
              <a:rPr sz="705">
                <a:solidFill>
                  <a:srgbClr val="1F004C"/>
                </a:solidFill>
              </a:rPr>
              <a:t>[Offenes Risiko / Hypothese 2] - konkret pruefen.</a:t>
            </a:r>
          </a:p>
        </p:txBody>
      </p:sp>
      <p:sp>
        <p:nvSpPr>
          <p:cNvPr id="101" name="risk3">
            <a:extLst xmlns:a="http://schemas.openxmlformats.org/drawingml/2006/main">
              <a:ext uri="{FF2B5EF4-FFF2-40B4-BE49-F238E27FC236}">
                <a16:creationId xmlns:a16="http://schemas.microsoft.com/office/drawing/2014/main" id="{7EACC199-FBC5-42C9-9464-745F1224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0"/>
            <a:ext cx="30956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F4E8C2"/>
            </a:solidFill>
            <a:prstDash val="solid"/>
          </a:ln>
        </p:spPr>
      </p:sp>
      <p:sp>
        <p:nvSpPr>
          <p:cNvPr id="102" name="risk3-bang">
            <a:extLst xmlns:a="http://schemas.openxmlformats.org/drawingml/2006/main">
              <a:ext uri="{FF2B5EF4-FFF2-40B4-BE49-F238E27FC236}">
                <a16:creationId xmlns:a16="http://schemas.microsoft.com/office/drawing/2014/main" id="{442C34A0-B7F8-4A84-A3FD-B187B5BC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96450"/>
            <a:ext cx="95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7600"/>
                </a:solidFill>
              </a:defRPr>
            </a:pPr>
            <a:r>
              <a:rPr sz="825" b="1">
                <a:solidFill>
                  <a:srgbClr val="9B7600"/>
                </a:solidFill>
              </a:rPr>
              <a:t>!</a:t>
            </a:r>
          </a:p>
        </p:txBody>
      </p:sp>
      <p:sp>
        <p:nvSpPr>
          <p:cNvPr id="103" name="risk3-text">
            <a:extLst xmlns:a="http://schemas.openxmlformats.org/drawingml/2006/main">
              <a:ext uri="{FF2B5EF4-FFF2-40B4-BE49-F238E27FC236}">
                <a16:creationId xmlns:a16="http://schemas.microsoft.com/office/drawing/2014/main" id="{97B06F8C-3BF2-43D3-BFC1-5396DE23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96450"/>
            <a:ext cx="2571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05">
                <a:solidFill>
                  <a:srgbClr val="1F004C"/>
                </a:solidFill>
              </a:defRPr>
            </a:pPr>
            <a:r>
              <a:rPr sz="705">
                <a:solidFill>
                  <a:srgbClr val="1F004C"/>
                </a:solidFill>
              </a:rPr>
              <a:t>[Offenes Risiko / Hypothese 3] - konkret pruefen.</a:t>
            </a:r>
          </a:p>
        </p:txBody>
      </p:sp>
      <p:sp>
        <p:nvSpPr>
          <p:cNvPr id="104" name="flow1-card">
            <a:extLst xmlns:a="http://schemas.openxmlformats.org/drawingml/2006/main">
              <a:ext uri="{FF2B5EF4-FFF2-40B4-BE49-F238E27FC236}">
                <a16:creationId xmlns:a16="http://schemas.microsoft.com/office/drawing/2014/main" id="{6ECD9B1B-F7AB-4C2B-9CFB-6CE87184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858250"/>
            <a:ext cx="1566863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105" name="flow1-title-pill">
            <a:extLst xmlns:a="http://schemas.openxmlformats.org/drawingml/2006/main">
              <a:ext uri="{FF2B5EF4-FFF2-40B4-BE49-F238E27FC236}">
                <a16:creationId xmlns:a16="http://schemas.microsoft.com/office/drawing/2014/main" id="{EE29418D-4BFB-4E37-BEE8-EABE013B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924925"/>
            <a:ext cx="1376363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flow1-title-text">
            <a:extLst xmlns:a="http://schemas.openxmlformats.org/drawingml/2006/main">
              <a:ext uri="{FF2B5EF4-FFF2-40B4-BE49-F238E27FC236}">
                <a16:creationId xmlns:a16="http://schemas.microsoft.com/office/drawing/2014/main" id="{AC4EAACE-4A65-4E0B-929E-1BE3A0DE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8963025"/>
            <a:ext cx="1223963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854BFF"/>
                </a:solidFill>
              </a:defRPr>
            </a:pPr>
            <a:r>
              <a:rPr sz="615" b="1">
                <a:solidFill>
                  <a:srgbClr val="854BFF"/>
                </a:solidFill>
              </a:rPr>
              <a:t>1. Intro [5min]</a:t>
            </a:r>
          </a:p>
        </p:txBody>
      </p:sp>
      <p:sp>
        <p:nvSpPr>
          <p:cNvPr id="107" name="flow1-copy">
            <a:extLst xmlns:a="http://schemas.openxmlformats.org/drawingml/2006/main">
              <a:ext uri="{FF2B5EF4-FFF2-40B4-BE49-F238E27FC236}">
                <a16:creationId xmlns:a16="http://schemas.microsoft.com/office/drawing/2014/main" id="{8D3CD524-7314-4134-BE29-F19BAFB6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9134475"/>
            <a:ext cx="1338263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8">
                <a:solidFill>
                  <a:srgbClr val="5A4A7A"/>
                </a:solidFill>
              </a:defRPr>
            </a:pPr>
            <a:r>
              <a:rPr sz="548">
                <a:solidFill>
                  <a:srgbClr val="5A4A7A"/>
                </a:solidFill>
              </a:rPr>
              <a:t>Vertrauensvolle Atmosphaere schaffen, Ablauf transparent machen.</a:t>
            </a:r>
          </a:p>
        </p:txBody>
      </p:sp>
      <p:sp>
        <p:nvSpPr>
          <p:cNvPr id="108" name="flow2-card">
            <a:extLst xmlns:a="http://schemas.openxmlformats.org/drawingml/2006/main">
              <a:ext uri="{FF2B5EF4-FFF2-40B4-BE49-F238E27FC236}">
                <a16:creationId xmlns:a16="http://schemas.microsoft.com/office/drawing/2014/main" id="{AC5CA210-E81A-4879-837E-3DF90071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8858250"/>
            <a:ext cx="1566863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109" name="flow2-title-pill">
            <a:extLst xmlns:a="http://schemas.openxmlformats.org/drawingml/2006/main">
              <a:ext uri="{FF2B5EF4-FFF2-40B4-BE49-F238E27FC236}">
                <a16:creationId xmlns:a16="http://schemas.microsoft.com/office/drawing/2014/main" id="{DB8F8E98-C144-45F3-888A-BAABB600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8924925"/>
            <a:ext cx="1376363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flow2-title-text">
            <a:extLst xmlns:a="http://schemas.openxmlformats.org/drawingml/2006/main">
              <a:ext uri="{FF2B5EF4-FFF2-40B4-BE49-F238E27FC236}">
                <a16:creationId xmlns:a16="http://schemas.microsoft.com/office/drawing/2014/main" id="{025021F1-A713-4AAA-A80C-FB9F47F9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8963025"/>
            <a:ext cx="1223963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854BFF"/>
                </a:solidFill>
              </a:defRPr>
            </a:pPr>
            <a:r>
              <a:rPr sz="615" b="1">
                <a:solidFill>
                  <a:srgbClr val="854BFF"/>
                </a:solidFill>
              </a:rPr>
              <a:t>2. Werdegang [10min]</a:t>
            </a:r>
          </a:p>
        </p:txBody>
      </p:sp>
      <p:sp>
        <p:nvSpPr>
          <p:cNvPr id="111" name="flow2-copy">
            <a:extLst xmlns:a="http://schemas.openxmlformats.org/drawingml/2006/main">
              <a:ext uri="{FF2B5EF4-FFF2-40B4-BE49-F238E27FC236}">
                <a16:creationId xmlns:a16="http://schemas.microsoft.com/office/drawing/2014/main" id="{1D38C24A-1012-45E8-AF12-EF3EBF58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9134475"/>
            <a:ext cx="1338263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8">
                <a:solidFill>
                  <a:srgbClr val="5A4A7A"/>
                </a:solidFill>
              </a:defRPr>
            </a:pPr>
            <a:r>
              <a:rPr sz="548">
                <a:solidFill>
                  <a:srgbClr val="5A4A7A"/>
                </a:solidFill>
              </a:rPr>
              <a:t>Roten Faden im Lebenslauf verstehen und Motivation fuer die Rolle einordnen.</a:t>
            </a:r>
          </a:p>
        </p:txBody>
      </p:sp>
      <p:sp>
        <p:nvSpPr>
          <p:cNvPr id="112" name="flow3-card">
            <a:extLst xmlns:a="http://schemas.openxmlformats.org/drawingml/2006/main">
              <a:ext uri="{FF2B5EF4-FFF2-40B4-BE49-F238E27FC236}">
                <a16:creationId xmlns:a16="http://schemas.microsoft.com/office/drawing/2014/main" id="{038C6D57-DED3-47F0-ABC8-20091E82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9353550"/>
            <a:ext cx="1566863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113" name="flow3-title-pill">
            <a:extLst xmlns:a="http://schemas.openxmlformats.org/drawingml/2006/main">
              <a:ext uri="{FF2B5EF4-FFF2-40B4-BE49-F238E27FC236}">
                <a16:creationId xmlns:a16="http://schemas.microsoft.com/office/drawing/2014/main" id="{A0174DDE-4C9A-46BB-B074-851742B3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9420225"/>
            <a:ext cx="1376363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flow3-title-text">
            <a:extLst xmlns:a="http://schemas.openxmlformats.org/drawingml/2006/main">
              <a:ext uri="{FF2B5EF4-FFF2-40B4-BE49-F238E27FC236}">
                <a16:creationId xmlns:a16="http://schemas.microsoft.com/office/drawing/2014/main" id="{3F43C27E-8D67-4A51-9284-0E765A29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9458325"/>
            <a:ext cx="1223963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854BFF"/>
                </a:solidFill>
              </a:defRPr>
            </a:pPr>
            <a:r>
              <a:rPr sz="615" b="1">
                <a:solidFill>
                  <a:srgbClr val="854BFF"/>
                </a:solidFill>
              </a:rPr>
              <a:t>3. Fachl. Tiefe [20min]</a:t>
            </a:r>
          </a:p>
        </p:txBody>
      </p:sp>
      <p:sp>
        <p:nvSpPr>
          <p:cNvPr id="115" name="flow3-copy">
            <a:extLst xmlns:a="http://schemas.openxmlformats.org/drawingml/2006/main">
              <a:ext uri="{FF2B5EF4-FFF2-40B4-BE49-F238E27FC236}">
                <a16:creationId xmlns:a16="http://schemas.microsoft.com/office/drawing/2014/main" id="{2715DCF9-CB21-40CE-8B37-C94E2A86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9629775"/>
            <a:ext cx="1338263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8">
                <a:solidFill>
                  <a:srgbClr val="5A4A7A"/>
                </a:solidFill>
              </a:defRPr>
            </a:pPr>
            <a:r>
              <a:rPr sz="518">
                <a:solidFill>
                  <a:srgbClr val="5A4A7A"/>
                </a:solidFill>
              </a:rPr>
              <a:t>Hypothesen aus Stage 1 verifizieren, Architektur-Entscheidungen und Plattform-Denken.</a:t>
            </a:r>
          </a:p>
        </p:txBody>
      </p:sp>
      <p:sp>
        <p:nvSpPr>
          <p:cNvPr id="116" name="flow4-card">
            <a:extLst xmlns:a="http://schemas.openxmlformats.org/drawingml/2006/main">
              <a:ext uri="{FF2B5EF4-FFF2-40B4-BE49-F238E27FC236}">
                <a16:creationId xmlns:a16="http://schemas.microsoft.com/office/drawing/2014/main" id="{A8A80C35-DD44-42EF-9F63-2EBE7646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9353550"/>
            <a:ext cx="1566863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117" name="flow4-title-pill">
            <a:extLst xmlns:a="http://schemas.openxmlformats.org/drawingml/2006/main">
              <a:ext uri="{FF2B5EF4-FFF2-40B4-BE49-F238E27FC236}">
                <a16:creationId xmlns:a16="http://schemas.microsoft.com/office/drawing/2014/main" id="{00AEFE1E-B02E-4641-92BB-A714C706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9420225"/>
            <a:ext cx="1376363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flow4-title-text">
            <a:extLst xmlns:a="http://schemas.openxmlformats.org/drawingml/2006/main">
              <a:ext uri="{FF2B5EF4-FFF2-40B4-BE49-F238E27FC236}">
                <a16:creationId xmlns:a16="http://schemas.microsoft.com/office/drawing/2014/main" id="{ED74EF74-70BB-4F4D-952D-33085BF1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9458325"/>
            <a:ext cx="1223963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854BFF"/>
                </a:solidFill>
              </a:defRPr>
            </a:pPr>
            <a:r>
              <a:rPr sz="615" b="1">
                <a:solidFill>
                  <a:srgbClr val="854BFF"/>
                </a:solidFill>
              </a:rPr>
              <a:t>4. Soft Skills [15min]</a:t>
            </a:r>
          </a:p>
        </p:txBody>
      </p:sp>
      <p:sp>
        <p:nvSpPr>
          <p:cNvPr id="119" name="flow4-copy">
            <a:extLst xmlns:a="http://schemas.openxmlformats.org/drawingml/2006/main">
              <a:ext uri="{FF2B5EF4-FFF2-40B4-BE49-F238E27FC236}">
                <a16:creationId xmlns:a16="http://schemas.microsoft.com/office/drawing/2014/main" id="{8787F991-E065-4219-99DB-66EB4343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9629775"/>
            <a:ext cx="1338263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8">
                <a:solidFill>
                  <a:srgbClr val="5A4A7A"/>
                </a:solidFill>
              </a:defRPr>
            </a:pPr>
            <a:r>
              <a:rPr sz="548">
                <a:solidFill>
                  <a:srgbClr val="5A4A7A"/>
                </a:solidFill>
              </a:rPr>
              <a:t>Signal zu Teampassung und Kommunikationsstil sammeln.</a:t>
            </a:r>
          </a:p>
        </p:txBody>
      </p:sp>
      <p:sp>
        <p:nvSpPr>
          <p:cNvPr id="120" name="flow5-card">
            <a:extLst xmlns:a="http://schemas.openxmlformats.org/drawingml/2006/main">
              <a:ext uri="{FF2B5EF4-FFF2-40B4-BE49-F238E27FC236}">
                <a16:creationId xmlns:a16="http://schemas.microsoft.com/office/drawing/2014/main" id="{02778893-8B4A-4F0F-8736-7FE59DBD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9848850"/>
            <a:ext cx="322897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F5"/>
            </a:solidFill>
            <a:prstDash val="solid"/>
          </a:ln>
        </p:spPr>
      </p:sp>
      <p:sp>
        <p:nvSpPr>
          <p:cNvPr id="121" name="flow5-title-pill">
            <a:extLst xmlns:a="http://schemas.openxmlformats.org/drawingml/2006/main">
              <a:ext uri="{FF2B5EF4-FFF2-40B4-BE49-F238E27FC236}">
                <a16:creationId xmlns:a16="http://schemas.microsoft.com/office/drawing/2014/main" id="{5E26FC37-63C4-4565-9053-91D74079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9915525"/>
            <a:ext cx="3038475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flow5-title-text">
            <a:extLst xmlns:a="http://schemas.openxmlformats.org/drawingml/2006/main">
              <a:ext uri="{FF2B5EF4-FFF2-40B4-BE49-F238E27FC236}">
                <a16:creationId xmlns:a16="http://schemas.microsoft.com/office/drawing/2014/main" id="{42452E04-9827-492B-A982-B638589E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9953625"/>
            <a:ext cx="28860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93" b="1">
                <a:solidFill>
                  <a:srgbClr val="854BFF"/>
                </a:solidFill>
              </a:defRPr>
            </a:pPr>
            <a:r>
              <a:rPr sz="593" b="1">
                <a:solidFill>
                  <a:srgbClr val="854BFF"/>
                </a:solidFill>
              </a:rPr>
              <a:t>5. Kandidat:innen-Fragen &amp; Abschluss [10min]</a:t>
            </a:r>
          </a:p>
        </p:txBody>
      </p:sp>
      <p:sp>
        <p:nvSpPr>
          <p:cNvPr id="123" name="flow5-copy">
            <a:extLst xmlns:a="http://schemas.openxmlformats.org/drawingml/2006/main">
              <a:ext uri="{FF2B5EF4-FFF2-40B4-BE49-F238E27FC236}">
                <a16:creationId xmlns:a16="http://schemas.microsoft.com/office/drawing/2014/main" id="{792602E0-52BA-43B5-A5AD-4528F00D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0125075"/>
            <a:ext cx="3000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8">
                <a:solidFill>
                  <a:srgbClr val="5A4A7A"/>
                </a:solidFill>
              </a:defRPr>
            </a:pPr>
            <a:r>
              <a:rPr sz="548">
                <a:solidFill>
                  <a:srgbClr val="5A4A7A"/>
                </a:solidFill>
              </a:rPr>
              <a:t>Raum fuer Fragen, naechste Schritte transparent machen.</a:t>
            </a:r>
          </a:p>
        </p:txBody>
      </p:sp>
      <p:sp>
        <p:nvSpPr>
          <p:cNvPr id="12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3D9CC52-F273-4A28-8C86-783D5249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315575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40FF81D-B9E2-45D3-A9AB-9A5EFC7F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20350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5A4A7A"/>
                </a:solidFill>
              </a:defRPr>
            </a:pPr>
            <a:r>
              <a:rPr sz="788">
                <a:solidFill>
                  <a:srgbClr val="5A4A7A"/>
                </a:solidFill>
              </a:rPr>
              <a:t>TalentFlow - metafinanz</a:t>
            </a:r>
          </a:p>
        </p:txBody>
      </p:sp>
      <p:sp>
        <p:nvSpPr>
          <p:cNvPr id="12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524942F-C969-478B-9930-D86881E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0420350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A4A7A"/>
                </a:solidFill>
              </a:defRPr>
            </a:pPr>
            <a:r>
              <a:rPr sz="788">
                <a:solidFill>
                  <a:srgbClr val="5A4A7A"/>
                </a:solidFill>
              </a:rPr>
              <a:t>1/1</a:t>
            </a:r>
          </a:p>
        </p:txBody>
      </p:sp>
    </p:spTree>
    <p:extLst>
      <p:ext uri="{BB962C8B-B14F-4D97-AF65-F5344CB8AC3E}">
        <p14:creationId xmlns:p14="http://schemas.microsoft.com/office/powerpoint/2010/main" val="288967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2026-07-01T21:48:20.5930000Z</dcterms:created>
  <dcterms:modified xsi:type="dcterms:W3CDTF">2026-07-01T21:48:20.5930000Z</dcterms:modified>
</coreProperties>
</file>